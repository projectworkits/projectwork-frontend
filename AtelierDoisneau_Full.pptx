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01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1B00"/>
          </a:solidFill>
          <a:ln w="12700">
            <a:solidFill>
              <a:srgbClr val="2D1B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77240" y="731520"/>
            <a:ext cx="2286000" cy="2286000"/>
          </a:xfrm>
          <a:prstGeom prst="ellipse">
            <a:avLst/>
          </a:prstGeom>
          <a:solidFill>
            <a:srgbClr val="3B2400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234440" y="1188720"/>
            <a:ext cx="1371600" cy="1371600"/>
          </a:xfrm>
          <a:prstGeom prst="ellipse">
            <a:avLst/>
          </a:prstGeom>
          <a:solidFill>
            <a:srgbClr val="1C1200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7432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Silk &amp;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</a:rPr>
              <a:t>Project Work ·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640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6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AtelierDoisneau.it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0" y="1463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Robert Doisneau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 sguardo che racconta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0" y="2606040"/>
            <a:ext cx="27432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8716C"/>
                </a:solidFill>
              </a:rPr>
              <a:t>Galleria Harry Bertoia, Pordenone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8716C"/>
                </a:solidFill>
              </a:rPr>
              <a:t>22 nov 2025 – 26 apr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3657600"/>
            <a:ext cx="2240280" cy="365760"/>
          </a:xfrm>
          <a:prstGeom prst="roundRect">
            <a:avLst>
              <a:gd name="adj" fmla="val 225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Riccardo · CEO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657600"/>
            <a:ext cx="2240280" cy="365760"/>
          </a:xfrm>
          <a:prstGeom prst="roundRect">
            <a:avLst>
              <a:gd name="adj" fmla="val 225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Alex · 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4133088"/>
            <a:ext cx="2240280" cy="365760"/>
          </a:xfrm>
          <a:prstGeom prst="roundRect">
            <a:avLst>
              <a:gd name="adj" fmla="val 225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114800" y="4133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Furio · Marketing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133088"/>
            <a:ext cx="2240280" cy="365760"/>
          </a:xfrm>
          <a:prstGeom prst="roundRect">
            <a:avLst>
              <a:gd name="adj" fmla="val 225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492240" y="4133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Luigi · Design</a:t>
            </a:r>
            <a:endParaRPr lang="en-US" sz="11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3164CD13-46CE-B042-9038-3B611185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33" y="1031409"/>
            <a:ext cx="1682214" cy="1682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IL PROGETTO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 era Robert Doisneau?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Il fotografo francese che ha reso poetica la vita quotidiana parigina del Novecento.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38912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075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1912 – 1994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Visse e lavorò a Parigi per tutta la vita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73752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2075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Umanismo fotografico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468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Ritraeva gente comune: operai, bambini, innamorati per strada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8912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34472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Scatto più famoso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Il bacio dell'Hôtel de Ville (1950) — icona mondiale della fotografia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3375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873752" y="3447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34472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mostra a Pordenone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Galleria Harry Bertoia · oltre 80 opere originali in esposizione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IL PROGETTO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Due siti in uno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AtelierDoisneau.it serve due tipi di pubblico con esperienze completamente diverse.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023360" cy="2743200"/>
          </a:xfrm>
          <a:prstGeom prst="rect">
            <a:avLst/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🛍️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Shop Souvenir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03C"/>
                </a:solidFill>
              </a:rPr>
              <a:t>Per chi vuole portare a casa un ricordo della mostra: cataloghi, stampe, gadget, poster.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Nessun account necessario per sfogliare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Serve login solo per acquistare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Prodotti gestiti dallo staff via pannello 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65960"/>
            <a:ext cx="4297680" cy="2743200"/>
          </a:xfrm>
          <a:prstGeom prst="rect">
            <a:avLst/>
          </a:prstGeom>
          <a:solidFill>
            <a:srgbClr val="F0FDF4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</a:rPr>
              <a:t>🖼️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76072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Galleria Originali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03C"/>
                </a:solidFill>
              </a:rPr>
              <a:t>Per il collezionista: prenotare un'opera fotografica originale, ritirarla in galleria e acquistarla.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Richiede registrazione e login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Ogni opera ha uno stato: disponibile / prenotato / venduto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→ Lo staff conferma la vendita in loco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197864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IL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Silk &amp; 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Quattro ruoli, un progetto. Ognuno ha curato una dimensione del prodotto.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38912" y="20482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👔 Riccardo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CEO &amp;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724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Visione del prodotto, coordinamento, decisioni strategiche. Ha definito il modello di business e i requisiti funzionali.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73752" y="20482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⚙️ Alex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73752" y="2432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724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API REST, database relazionale, autenticazione con cookie HttpOnly. Ha costruito l'intera infrastruttura server.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416052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38912" y="35570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📣 Furio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8912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Marketing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233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Comunicazione, tono di voce, contenuti della landing e della pagina azienda. Ha curato il posizionamento del brand.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429000"/>
            <a:ext cx="4160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709160" y="3429000"/>
            <a:ext cx="41605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73752" y="35570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🎨 Luigi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73752" y="3941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</a:rPr>
              <a:t>Frontend &amp;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752" y="4233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Design system, palette, tipografia, tutte le 19 pagine HTML e i 4 moduli JavaScript condivisi.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IL PROGETTO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percorso di un collezionista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Dal primo accesso all'acquisto dell'opera — tutto in 6 passi.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828800"/>
            <a:ext cx="1188720" cy="11887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56032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444752" y="2395728"/>
            <a:ext cx="256032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99032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Entra nel sito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00784" y="1828800"/>
            <a:ext cx="1188720" cy="11887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700784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🖼️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889504" y="2395728"/>
            <a:ext cx="256032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843784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63624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Sfoglia la galleria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45536" y="1828800"/>
            <a:ext cx="1188720" cy="11887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145536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334256" y="2395728"/>
            <a:ext cx="256032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288536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08376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Si registra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90288" y="1828800"/>
            <a:ext cx="1188720" cy="118872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590288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🔖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779008" y="2395728"/>
            <a:ext cx="256032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733288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53128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Prenota l'opera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828800"/>
            <a:ext cx="1188720" cy="1188720"/>
          </a:xfrm>
          <a:prstGeom prst="ellipse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0350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7223760" y="2395728"/>
            <a:ext cx="256032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7178040" y="22860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9788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Ritira in galleria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79792" y="1828800"/>
            <a:ext cx="1188720" cy="11887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479792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342632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Opera venduta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858768"/>
            <a:ext cx="8595360" cy="978408"/>
          </a:xfrm>
          <a:prstGeom prst="rect">
            <a:avLst/>
          </a:prstGeom>
          <a:solidFill>
            <a:srgbClr val="FEF9EE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C1917"/>
                </a:solidFill>
              </a:rPr>
              <a:t>💡  Se non ha ancora un account, il sito lo porta automaticamente alla pagina di registrazione e poi lo riporta esattamente dove era rimasto — nessun passaggio perso.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673352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IL PROGETTO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 può fare cosa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Il sito riconosce 4 livelli di utente, ciascuno con capacità diverse.</a:t>
            </a:r>
            <a:endParaRPr lang="en-US" sz="1400" dirty="0"/>
          </a:p>
        </p:txBody>
      </p:sp>
      <p:sp>
        <p:nvSpPr>
          <p:cNvPr id="7" name="Shape 5"/>
          <p:cNvSpPr>
            <a:spLocks/>
          </p:cNvSpPr>
          <p:nvPr/>
        </p:nvSpPr>
        <p:spPr>
          <a:xfrm>
            <a:off x="256032" y="1783080"/>
            <a:ext cx="2011680" cy="3017519"/>
          </a:xfrm>
          <a:prstGeom prst="rect">
            <a:avLst/>
          </a:prstGeom>
          <a:solidFill>
            <a:srgbClr val="F5F5F4"/>
          </a:solidFill>
          <a:ln w="19050">
            <a:solidFill>
              <a:srgbClr val="78716C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56032" y="1783080"/>
            <a:ext cx="2011680" cy="54864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6032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2468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8716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Ospite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2918329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✗  Acquistare dal shop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✗  Prenotare opere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Sfogliare tutto liberamente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32304" y="1792224"/>
            <a:ext cx="2011680" cy="3017520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450592" y="1783080"/>
            <a:ext cx="201168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450592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50592" y="2468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Utente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2926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Acquistare dal shop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Prenotare un'opera originale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✗  Accesso area admin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5152" y="1783080"/>
            <a:ext cx="2011680" cy="3017520"/>
          </a:xfrm>
          <a:prstGeom prst="rect">
            <a:avLst/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645152" y="1783080"/>
            <a:ext cx="20116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645152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45152" y="2468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Collaboratore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Tutto l'utente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Confermare vendite in galleria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Gestire foto e prodotti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9712" y="1783080"/>
            <a:ext cx="2011680" cy="3017520"/>
          </a:xfrm>
          <a:prstGeom prst="rect">
            <a:avLst/>
          </a:prstGeom>
          <a:solidFill>
            <a:srgbClr val="FEF9EE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839712" y="1783080"/>
            <a:ext cx="201168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839712" y="1874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839712" y="2468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Admin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49440" y="29260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Tutto il collaboratore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Promuovere / destituire staff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986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03C"/>
                </a:solidFill>
              </a:rPr>
              <a:t>✓  Eliminare account (tranne sé)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45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B5FD"/>
                </a:solidFill>
              </a:rPr>
              <a:t>🎨  Luigi — Frontend &amp;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44068"/>
            <a:ext cx="8595360" cy="61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Come è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fatto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il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sito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?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📄  19 pagine HTML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Una per ogni schermata, nessun framework, tutto statico e leggero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489204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🎨  Design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Palette violetto/oro, tipografia Playfair + DM Mono, Bootstrap 5.3 dark mode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⚙️  4 moduli JavaScript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Condivisi tra tutte le pagine: gestiscono login, navbar, notifiche, chiamate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9204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🔌  </a:t>
            </a:r>
            <a:r>
              <a:rPr lang="en-US" sz="1400" b="1" dirty="0" err="1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Pochissimi</a:t>
            </a: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link </a:t>
            </a:r>
            <a:r>
              <a:rPr lang="en-US" sz="1400" b="1" dirty="0" err="1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Esterni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Font e </a:t>
            </a:r>
            <a:r>
              <a:rPr lang="en-US" sz="1200" dirty="0" err="1">
                <a:solidFill>
                  <a:srgbClr val="44403C"/>
                </a:solidFill>
              </a:rPr>
              <a:t>immagini</a:t>
            </a:r>
            <a:r>
              <a:rPr lang="en-US" sz="1200" dirty="0">
                <a:solidFill>
                  <a:srgbClr val="44403C"/>
                </a:solidFill>
              </a:rPr>
              <a:t> quasi tutti locali: il sito </a:t>
            </a:r>
            <a:r>
              <a:rPr lang="en-US" sz="1200" dirty="0" err="1">
                <a:solidFill>
                  <a:srgbClr val="44403C"/>
                </a:solidFill>
              </a:rPr>
              <a:t>funziona</a:t>
            </a:r>
            <a:r>
              <a:rPr lang="en-US" sz="1200" dirty="0">
                <a:solidFill>
                  <a:srgbClr val="44403C"/>
                </a:solidFill>
              </a:rPr>
              <a:t> </a:t>
            </a:r>
            <a:r>
              <a:rPr lang="en-US" sz="1200" dirty="0" err="1">
                <a:solidFill>
                  <a:srgbClr val="44403C"/>
                </a:solidFill>
              </a:rPr>
              <a:t>perfettamente</a:t>
            </a:r>
            <a:r>
              <a:rPr lang="en-US" sz="1200" dirty="0">
                <a:solidFill>
                  <a:srgbClr val="44403C"/>
                </a:solidFill>
              </a:rPr>
              <a:t> bene </a:t>
            </a:r>
            <a:r>
              <a:rPr lang="en-US" sz="1200" dirty="0" err="1">
                <a:solidFill>
                  <a:srgbClr val="44403C"/>
                </a:solidFill>
              </a:rPr>
              <a:t>anche</a:t>
            </a:r>
            <a:r>
              <a:rPr lang="en-US" sz="1200" dirty="0">
                <a:solidFill>
                  <a:srgbClr val="44403C"/>
                </a:solidFill>
              </a:rPr>
              <a:t> senza internet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FRONTEND — LUIGI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19 pagine del sito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Ogni pagina è un file HTML autonomo — una schermata, un compito.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160520" cy="1728216"/>
          </a:xfrm>
          <a:prstGeom prst="rect">
            <a:avLst/>
          </a:prstGeom>
          <a:solidFill>
            <a:srgbClr val="F9FAFB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41605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02336" y="1819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Pubbliche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2194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landing.html — porta d'ingresso (no navbar)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514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— home del sito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8346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azienda.html — chi siamo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154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404.html — </a:t>
            </a:r>
            <a:r>
              <a:rPr lang="en-US" sz="1050" dirty="0" err="1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</a:t>
            </a: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 </a:t>
            </a:r>
            <a:r>
              <a:rPr lang="en-US" sz="1050" dirty="0" err="1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</a:t>
            </a:r>
            <a:endParaRPr lang="en-US" sz="1050" dirty="0">
              <a:solidFill>
                <a:srgbClr val="44403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1783080"/>
            <a:ext cx="4160520" cy="1069848"/>
          </a:xfrm>
          <a:prstGeom prst="rect">
            <a:avLst/>
          </a:prstGeom>
          <a:solidFill>
            <a:srgbClr val="F9FAFB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709160" y="1783080"/>
            <a:ext cx="416052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37176" y="1819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Autenticazione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2194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 — username + password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2514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register.html — form con validazioni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4160520" cy="1069848"/>
          </a:xfrm>
          <a:prstGeom prst="rect">
            <a:avLst/>
          </a:prstGeom>
          <a:solidFill>
            <a:srgbClr val="F9FAFB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160520" cy="3474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02336" y="3419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🛍️ Shop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shop-index.html — griglia prodotti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2336" y="4114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shop-detail.html — dettaglio + acquisto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383280"/>
            <a:ext cx="4160520" cy="1069848"/>
          </a:xfrm>
          <a:prstGeom prst="rect">
            <a:avLst/>
          </a:prstGeom>
          <a:solidFill>
            <a:srgbClr val="F9FAFB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1605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837176" y="3419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🖼️ Galleria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7176" y="37947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mostra-index.html — griglia opere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37176" y="4114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mostra-detail.html — dettaglio + prenotazione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FEF9EE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6360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5309"/>
                </a:solidFill>
              </a:rPr>
              <a:t>🔒  Admin (solo staff): dashboard · gestione foto · gestione prodotti · gestione utenti — 5 pagine aggiuntive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— LUIGI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file JavaScript che fanno girare tutto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Ogni pagina li carica nell'ordine giusto: prima api.js, poi app.js, poi navbar e footer.</a:t>
            </a:r>
            <a:endParaRPr lang="en-US" sz="1400" dirty="0"/>
          </a:p>
        </p:txBody>
      </p:sp>
      <p:sp>
        <p:nvSpPr>
          <p:cNvPr id="7" name="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1874520"/>
            <a:ext cx="416052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38912" y="1965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03C"/>
                </a:solidFill>
              </a:rPr>
              <a:t>Il "traduttore" tra il sito e il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697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Ogni volta che il sito ha bisogno di dati (es. la lista delle foto), chiama api.js che parla con il server e porta la </a:t>
            </a:r>
            <a:r>
              <a:rPr lang="en-US" sz="1100" dirty="0" err="1">
                <a:solidFill>
                  <a:srgbClr val="78716C"/>
                </a:solidFill>
              </a:rPr>
              <a:t>risposta</a:t>
            </a:r>
            <a:r>
              <a:rPr lang="en-US" sz="1100" dirty="0">
                <a:solidFill>
                  <a:srgbClr val="78716C"/>
                </a:solidFill>
              </a:rPr>
              <a:t>.</a:t>
            </a:r>
            <a:endParaRPr lang="en-US" sz="1100" dirty="0"/>
          </a:p>
        </p:txBody>
      </p:sp>
      <p:sp>
        <p:nvSpPr>
          <p:cNvPr id="11" name="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09160" y="1874520"/>
            <a:ext cx="416052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873752" y="1965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3752" y="23088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03C"/>
                </a:solidFill>
              </a:rPr>
              <a:t>Il "cervello" della pagina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26471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Capisce chi è l'utente (ospite / registrato / staff), mostra popup di conferma, notifiche di successo o errore, e protegge le pagine admin da chi non ha i permessi.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416052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8912" y="3474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" y="38039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03C"/>
                </a:solidFill>
              </a:rPr>
              <a:t>La barra di navigazione in cima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4123005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Costruisce il menu al volo in base al ruolo: l'ospite vede solo i link pubblici; lo staff vede anche la voce Admin. Gestisce anche il tasto logout.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383280"/>
            <a:ext cx="4160520" cy="1371600"/>
          </a:xfrm>
          <a:prstGeom prst="rect">
            <a:avLst/>
          </a:prstGeom>
          <a:solidFill>
            <a:srgbClr val="FEF9EE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873752" y="3474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footer.js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73752" y="3886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03C"/>
                </a:solidFill>
              </a:rPr>
              <a:t>Il piè di pagina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Footer semplice con brand Silk &amp; Stack, link interni e anno corrente aggiornato automaticamente.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— LUIGI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design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Palette, font e componenti pensati per evocare l'atmosfera della fotografia analogica.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Palette colori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731520" cy="731520"/>
          </a:xfrm>
          <a:prstGeom prst="rect">
            <a:avLst/>
          </a:prstGeom>
          <a:solidFill>
            <a:srgbClr val="1C1917"/>
          </a:solidFill>
          <a:ln w="635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</a:rPr>
              <a:t>Inchiostro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2148840"/>
            <a:ext cx="731520" cy="731520"/>
          </a:xfrm>
          <a:prstGeom prst="rect">
            <a:avLst/>
          </a:prstGeom>
          <a:solidFill>
            <a:srgbClr val="6D28D9"/>
          </a:solidFill>
          <a:ln w="635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078992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</a:rPr>
              <a:t>Violetto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83664" y="2148840"/>
            <a:ext cx="731520" cy="7315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883664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</a:rPr>
              <a:t>Oro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336" y="2148840"/>
            <a:ext cx="731520" cy="731520"/>
          </a:xfrm>
          <a:prstGeom prst="rect">
            <a:avLst/>
          </a:prstGeom>
          <a:solidFill>
            <a:srgbClr val="FAF6EF"/>
          </a:solidFill>
          <a:ln w="635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88336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</a:rPr>
              <a:t>Lino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2148840"/>
            <a:ext cx="731520" cy="731520"/>
          </a:xfrm>
          <a:prstGeom prst="rect">
            <a:avLst/>
          </a:prstGeom>
          <a:solidFill>
            <a:srgbClr val="78716C"/>
          </a:solidFill>
          <a:ln w="6350">
            <a:solidFill>
              <a:srgbClr val="E0DDD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493008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</a:rPr>
              <a:t>Grigio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Tipografia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Titoli principali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34640" y="3694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— Playfair Display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3986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Corpo testo elegante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34640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— Cormorant Garamond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Codice e dati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4315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</a:rPr>
              <a:t>— DM Mono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801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Componenti chiave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176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🔔  Toast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4505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Notifica volatile (3.6s) — successo, errore, info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7066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💬  Confirm Modal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29809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Popup di conferma prima delle azioni irreversibili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2369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🏷️  State Badge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5112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Etichetta colorata per lo stato dell'opera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✨  Reveal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Animazione IntersectionObserver all'entrata in viewport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</a:rPr>
              <a:t>📦  Card Frame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</a:rPr>
              <a:t>Card prodotto con giacenza e pulsante d'azione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</a:rPr>
              <a:t>⚙️  Alex — Backend Developer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Cosa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c’è</a:t>
            </a:r>
            <a:r>
              <a:rPr lang="en-US" sz="4400" dirty="0"/>
              <a:t>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dietro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il sito?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🔒  Autenticazione sicura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Cookie HttpOnly: il browser non vede mai il token. Login che si rinnova automaticamente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🗄️  Database relazionale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4 tabelle: utenti, prodotti, foto, sessioni. Il frontend non ci parla mai direttamente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🌐  API REST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Oltre 20 endpoint: ogni azione del sito (login, prenotare, acquistare) corrisponde a una chiamata precisa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9204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🛡️  Regole di ruolo lato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Le restrizioni di permesso vengono verificate sul server — non basta manipolare il frontend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— ALEX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Come funziona il login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Un sistema di cookie invisibili che mantiene l'utente connesso in modo sicuro.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1280160" cy="1280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600200" y="2441448"/>
            <a:ext cx="420624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563624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Inserisce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username+password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0824" y="1828800"/>
            <a:ext cx="1280160" cy="12801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020824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300984" y="2441448"/>
            <a:ext cx="420624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264408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19656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Server verifica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e crea due cookie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21608" y="1828800"/>
            <a:ext cx="1280160" cy="1280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721608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🍪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001768" y="2441448"/>
            <a:ext cx="420624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965192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0440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Cookie salvati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nascosti nel browser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22392" y="1828800"/>
            <a:ext cx="1280160" cy="12801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422392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702552" y="2441448"/>
            <a:ext cx="420624" cy="45720"/>
          </a:xfrm>
          <a:prstGeom prst="rect">
            <a:avLst/>
          </a:prstGeom>
          <a:solidFill>
            <a:srgbClr val="78716C"/>
          </a:solidFill>
          <a:ln w="12700">
            <a:solidFill>
              <a:srgbClr val="78716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665976" y="23042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21224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Ogni richiesta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li invia in automatico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23176" y="1828800"/>
            <a:ext cx="1280160" cy="1280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23176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♻️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22008" y="324612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Se scaduto: si rinnova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917"/>
                </a:solidFill>
              </a:rPr>
              <a:t>da solo (refresh token)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57200" y="4050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🍪  Cosa sono i cookie HttpOnly?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3708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Piccoli dati salvati dal browser che identificano l'utente. "HttpOnly" significa che nessuno script malevolo può leggerli — solo il server li usa.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— ALEX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database — 4 tabelle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Tutto ciò che il sito conosce è memorizzato qui. Il frontend non vi accede mai direttamente.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60520" cy="1371600"/>
          </a:xfrm>
          <a:prstGeom prst="rect">
            <a:avLst/>
          </a:prstGeom>
          <a:solidFill>
            <a:srgbClr val="FEF9EE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16052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38912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 users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username — nome univoco (solo lettere e numeri)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email — indirizzo univoco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825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password — salvata criptata, mai in chiaro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026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ruolo — admin o collaboratore (flag)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874520"/>
            <a:ext cx="4160520" cy="1371600"/>
          </a:xfrm>
          <a:prstGeom prst="rect">
            <a:avLst/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41605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873752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🖼️  photos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73752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path — percorso del file immagine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73752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titolo, data, luogo, descrizione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3752" y="2825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stato — available / booked / sold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3752" y="3026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prezzo e riferimento a chi l'ha prenotata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4160520" cy="1371600"/>
          </a:xfrm>
          <a:prstGeom prst="rect">
            <a:avLst/>
          </a:prstGeom>
          <a:solidFill>
            <a:srgbClr val="F0FDF4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416052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38912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🛍️  products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nome e descrizione del souvenir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prezzo di vendita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disponibili (giacenza)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venduti (contatore storico)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383280"/>
            <a:ext cx="4160520" cy="1371600"/>
          </a:xfrm>
          <a:prstGeom prst="rect">
            <a:avLst/>
          </a:prstGeom>
          <a:solidFill>
            <a:srgbClr val="EFF6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709160" y="3383280"/>
            <a:ext cx="416052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873752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 sessions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73752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token sicuro (sha256 + base64)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73752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data di creazione e scadenza (7 giorni)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73752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riferimento all'utente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73752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03C"/>
                </a:solidFill>
              </a:rPr>
              <a:t>·  gestita interamente dal backend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— ALEX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Come il sito parla con il server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Ogni azione dell'utente si traduce in una "domanda" al server, che risponde con un dato o un'azione.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60520" cy="1325880"/>
          </a:xfrm>
          <a:prstGeom prst="rect">
            <a:avLst/>
          </a:prstGeom>
          <a:solidFill>
            <a:srgbClr val="F9FAFB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Entrare nel sito  </a:t>
            </a:r>
            <a:r>
              <a:rPr lang="en-US" sz="1050" dirty="0">
                <a:solidFill>
                  <a:srgbClr val="78716C"/>
                </a:solidFill>
              </a:rPr>
              <a:t>Login  →  il server crea i cookie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Uscire  </a:t>
            </a:r>
            <a:r>
              <a:rPr lang="en-US" sz="1050" dirty="0">
                <a:solidFill>
                  <a:srgbClr val="78716C"/>
                </a:solidFill>
              </a:rPr>
              <a:t>Logout  →  il server cancella i cookie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Tornare dopo pausa  </a:t>
            </a:r>
            <a:r>
              <a:rPr lang="en-US" sz="1050" dirty="0">
                <a:solidFill>
                  <a:srgbClr val="78716C"/>
                </a:solidFill>
              </a:rPr>
              <a:t>Refresh  →  rinnova silenzioso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1325880"/>
          </a:xfrm>
          <a:prstGeom prst="rect">
            <a:avLst/>
          </a:prstGeom>
          <a:solidFill>
            <a:srgbClr val="F9FAFB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4632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Vedere i prodotti  </a:t>
            </a:r>
            <a:r>
              <a:rPr lang="en-US" sz="1050" dirty="0">
                <a:solidFill>
                  <a:srgbClr val="78716C"/>
                </a:solidFill>
              </a:rPr>
              <a:t>Lista prodotti  →  elenco completo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Aprire un prodotto  </a:t>
            </a:r>
            <a:r>
              <a:rPr lang="en-US" sz="1050" dirty="0">
                <a:solidFill>
                  <a:srgbClr val="78716C"/>
                </a:solidFill>
              </a:rPr>
              <a:t>Dettaglio prodotto  →  scheda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Comprare  </a:t>
            </a:r>
            <a:r>
              <a:rPr lang="en-US" sz="1050" dirty="0">
                <a:solidFill>
                  <a:srgbClr val="78716C"/>
                </a:solidFill>
              </a:rPr>
              <a:t>Sell  →  scala la giacenza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4160520" cy="1325880"/>
          </a:xfrm>
          <a:prstGeom prst="rect">
            <a:avLst/>
          </a:prstGeom>
          <a:solidFill>
            <a:srgbClr val="F9FAFB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16052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Galleria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767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Sfogliare le opere  </a:t>
            </a:r>
            <a:r>
              <a:rPr lang="en-US" sz="1050" dirty="0">
                <a:solidFill>
                  <a:srgbClr val="78716C"/>
                </a:solidFill>
              </a:rPr>
              <a:t>Lista foto  →  con filtro per stato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Prenotare  </a:t>
            </a:r>
            <a:r>
              <a:rPr lang="en-US" sz="1050" dirty="0">
                <a:solidFill>
                  <a:srgbClr val="78716C"/>
                </a:solidFill>
              </a:rPr>
              <a:t>Book  →  associa l'opera all'utente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370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Confermare vendita (staff)  </a:t>
            </a:r>
            <a:r>
              <a:rPr lang="en-US" sz="1050" dirty="0">
                <a:solidFill>
                  <a:srgbClr val="78716C"/>
                </a:solidFill>
              </a:rPr>
              <a:t>SetSold  →  passa a venduto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160520" cy="1325880"/>
          </a:xfrm>
          <a:prstGeom prst="rect">
            <a:avLst/>
          </a:prstGeom>
          <a:solidFill>
            <a:srgbClr val="F9FAFB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709160" y="3383280"/>
            <a:ext cx="41605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4632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Utenti (admin)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Vedere gli utenti  </a:t>
            </a:r>
            <a:r>
              <a:rPr lang="en-US" sz="1050" dirty="0">
                <a:solidFill>
                  <a:srgbClr val="78716C"/>
                </a:solidFill>
              </a:rPr>
              <a:t>Lista utenti  →  solo per staff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4069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Promuovere a collaboratore  </a:t>
            </a:r>
            <a:r>
              <a:rPr lang="en-US" sz="1050" dirty="0">
                <a:solidFill>
                  <a:srgbClr val="78716C"/>
                </a:solidFill>
              </a:rPr>
              <a:t>OpCollaborator  →  solo admin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3708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03C"/>
                </a:solidFill>
              </a:rPr>
              <a:t>Eliminare un account  </a:t>
            </a:r>
            <a:r>
              <a:rPr lang="en-US" sz="1050" dirty="0">
                <a:solidFill>
                  <a:srgbClr val="78716C"/>
                </a:solidFill>
              </a:rPr>
              <a:t>Delete  →  regole di ruolo BE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0597"/>
            <a:ext cx="9144000" cy="13716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410420" y="155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</a:rPr>
              <a:t>📣 Furio — Marketing &amp; Comunicazione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574619"/>
            <a:ext cx="8229600" cy="72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Come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racconta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progetto?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🚪  La landing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Porta d'ingresso separata dalla navbar: usata per campagne e link diretti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🏛️  Tono istituzionale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Il sito parla di arte, non di e-commerce: il linguaggio rispecchia la dignità delle opere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🏢  Brand Silk &amp;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La pagina azienda ha una propria identità visiva autonoma per posizionarsi come studio creativo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9204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💬  Contenuti testuali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Tre nuclei narrativi, citazioni di Doisneau, testimonianze con avatar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386584" cy="310896"/>
          </a:xfrm>
          <a:prstGeom prst="roundRect">
            <a:avLst>
              <a:gd name="adj" fmla="val 2352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— FURIO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landing page — la prima impressione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landing.html non è linkata dalla navbar: è progettata per campagne e link condivisi sui social.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Hero full-bleed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0370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Immagine di Doisneau a tutto schermo con titolo della mostra in sovrimpressione. Prima cosa che l'utente vede.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88336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743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Tre pillar narrativi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Tre sezioni di testo che raccontano il fotografo, la mostra e le opere — senza jargon tecnico.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7432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Testimonianze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73989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Avatar e citazioni di visitatori per creare fiducia e curiosità prima dell'acquisto.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224528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7432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</a:rPr>
              <a:t>CTA chiare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50799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8716C"/>
                </a:solidFill>
              </a:rPr>
              <a:t>Tre pulsanti principali: Entra nella mostra · Accedi · Registrati. Nessuna dispersione.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837176"/>
            <a:ext cx="859536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11480" y="482736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7857"/>
                </a:solidFill>
              </a:rPr>
              <a:t>✓  Ha un footer inline proprio — non usa navbar/footer condivisi perché è una pagina autonoma di campagna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386584" cy="310896"/>
          </a:xfrm>
          <a:prstGeom prst="roundRect">
            <a:avLst>
              <a:gd name="adj" fmla="val 2352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MARKETING — FURIO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Silk &amp; Stack — il brand dell'azienda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La pagina azienda.html è volutamente diversa dal resto del sito.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</a:rPr>
              <a:t>Il sito Doisneau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801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</a:rPr>
              <a:t>La pagina Silk &amp;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67712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754880" y="2267712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Palette violetto/oro su sfondo dark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Palette violetto ottico su bianco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7408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754880" y="2889504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Font Playfair Display &amp; Cormorant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80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Font Cinzel — più istituzionale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7408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511296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754880" y="3511296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57200" y="3602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Atmosfera: galleria d'arte notturna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602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Atmosfera: studio creativo moderno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07408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754880" y="4133088"/>
            <a:ext cx="411480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Pubblico: visitatori e collezionisti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Pubblico: potenziali clienti aziendali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07408" y="4242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6817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7857"/>
                </a:solidFill>
              </a:rPr>
              <a:t>📌  Scelta voluta: il brand dello studio dev'essere riconoscibile anche fuori dal contesto della mostra.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386584" cy="310896"/>
          </a:xfrm>
          <a:prstGeom prst="roundRect">
            <a:avLst>
              <a:gd name="adj" fmla="val 2352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MARKETING — FURIO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tono di voce del sito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Come si comunica con chi visita la mostra — tre principi guida.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8595360" cy="896112"/>
          </a:xfrm>
          <a:prstGeom prst="rect">
            <a:avLst/>
          </a:prstGeom>
          <a:solidFill>
            <a:srgbClr val="F9FAFB"/>
          </a:solidFill>
          <a:ln w="1905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640080" cy="89611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9568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Accessibile, non banale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Il sito parla di arte a un pubblico misto — appassionati e neofiti. Il linguaggio è colto ma mai elitario. Le descrizioni delle opere evitano il gergo specialistico.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595360" cy="896112"/>
          </a:xfrm>
          <a:prstGeom prst="rect">
            <a:avLst/>
          </a:prstGeom>
          <a:solidFill>
            <a:srgbClr val="F9FAFB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640080" cy="8961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74320" y="288036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93522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Emozione prima di funzione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826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L'utente non viene accolto con un menu: la landing page racconta una storia. Solo dopo aver capito il valore della mostra, trova il percorso verso l'acquisto.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858768"/>
            <a:ext cx="8595360" cy="896112"/>
          </a:xfrm>
          <a:prstGeom prst="rect">
            <a:avLst/>
          </a:prstGeom>
          <a:solidFill>
            <a:srgbClr val="F9FAFB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640080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74320" y="3858768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Fiducia attraverso trasparenza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2611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Testimonianze reali, informazioni pratiche chiare (date, sede, orari, coordinate), nessuna promessa esagerata. L'arte parla da sola — il testo la accompagna.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365760" y="19668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</a:rPr>
              <a:t>👔  Riccardo — CEO &amp;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70843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Come </a:t>
            </a:r>
            <a:r>
              <a:rPr lang="en-US" sz="4400" b="1" dirty="0" err="1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nasce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progetto?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🎯  Visione del prodotto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Definire esattamente cosa serve: due tipi di utente, due esperienze diverse, un solo sito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9202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2029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📋  Requisiti funzionali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468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Ogni pagina, ogni azione, ogni permesso è stato definito prima di scrivere una riga di codice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🤝  Coordinamento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Quattro profili diversi, un obiettivo comune: far funzionare il sito per il giorno dell'inaugurazione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92040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📊  Scelte di business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840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4403C"/>
                </a:solidFill>
              </a:rPr>
              <a:t>Decidere </a:t>
            </a:r>
            <a:r>
              <a:rPr lang="en-US" sz="1200" dirty="0" err="1">
                <a:solidFill>
                  <a:srgbClr val="44403C"/>
                </a:solidFill>
              </a:rPr>
              <a:t>cosa</a:t>
            </a:r>
            <a:r>
              <a:rPr lang="en-US" sz="1200" dirty="0">
                <a:solidFill>
                  <a:srgbClr val="44403C"/>
                </a:solidFill>
              </a:rPr>
              <a:t> fare: </a:t>
            </a:r>
            <a:r>
              <a:rPr lang="en-US" sz="1200" dirty="0" err="1">
                <a:solidFill>
                  <a:srgbClr val="44403C"/>
                </a:solidFill>
              </a:rPr>
              <a:t>paginazioni</a:t>
            </a:r>
            <a:r>
              <a:rPr lang="en-US" sz="1200" dirty="0">
                <a:solidFill>
                  <a:srgbClr val="44403C"/>
                </a:solidFill>
              </a:rPr>
              <a:t> </a:t>
            </a:r>
            <a:r>
              <a:rPr lang="en-US" sz="1200" dirty="0" err="1">
                <a:solidFill>
                  <a:srgbClr val="44403C"/>
                </a:solidFill>
              </a:rPr>
              <a:t>specifiche</a:t>
            </a:r>
            <a:r>
              <a:rPr lang="en-US" sz="1200" dirty="0">
                <a:solidFill>
                  <a:srgbClr val="44403C"/>
                </a:solidFill>
              </a:rPr>
              <a:t>, nessun CDN, </a:t>
            </a:r>
            <a:r>
              <a:rPr lang="en-US" sz="1200" dirty="0" err="1">
                <a:solidFill>
                  <a:srgbClr val="44403C"/>
                </a:solidFill>
              </a:rPr>
              <a:t>qualche</a:t>
            </a:r>
            <a:r>
              <a:rPr lang="en-US" sz="1200" dirty="0">
                <a:solidFill>
                  <a:srgbClr val="44403C"/>
                </a:solidFill>
              </a:rPr>
              <a:t> honeypot — scelte consapevoli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CEO — RICCARDO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 scelte che contano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Ogni progetto è fatto anche di cose che si decide di NON fare — e di perché.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8595360" cy="676656"/>
          </a:xfrm>
          <a:prstGeom prst="rect">
            <a:avLst/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✅  Nessun framework JavaScript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Il sito è semplice abbastanza. Aggiungere React o Vue avrebbe allungato i tempi senza benefici reali per questo volume di contenuti.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8595360" cy="676656"/>
          </a:xfrm>
          <a:prstGeom prst="rect">
            <a:avLst/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✅  Nessun CDN esterno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Il sito gira in rete locale su un portatile in galleria. Dipendere da internet per caricare i font avrebbe rischiato di mandare tutto in bianco.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392424"/>
            <a:ext cx="8595360" cy="676656"/>
          </a:xfrm>
          <a:prstGeom prst="rect">
            <a:avLst/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✅ </a:t>
            </a:r>
            <a:r>
              <a:rPr lang="en-US" sz="1300" b="1" dirty="0" err="1">
                <a:solidFill>
                  <a:srgbClr val="B45309"/>
                </a:solidFill>
              </a:rPr>
              <a:t>Paginazione</a:t>
            </a:r>
            <a:r>
              <a:rPr lang="en-US" sz="1300" b="1" dirty="0">
                <a:solidFill>
                  <a:srgbClr val="B45309"/>
                </a:solidFill>
              </a:rPr>
              <a:t> </a:t>
            </a:r>
            <a:r>
              <a:rPr lang="en-US" sz="1300" b="1" dirty="0" err="1">
                <a:solidFill>
                  <a:srgbClr val="B45309"/>
                </a:solidFill>
              </a:rPr>
              <a:t>precisa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02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4403C"/>
                </a:solidFill>
              </a:rPr>
              <a:t>Con circa 100 foto e poche decine di prodotti, caricare </a:t>
            </a:r>
            <a:r>
              <a:rPr lang="en-US" sz="1150" dirty="0" err="1">
                <a:solidFill>
                  <a:srgbClr val="44403C"/>
                </a:solidFill>
              </a:rPr>
              <a:t>tutto</a:t>
            </a:r>
            <a:r>
              <a:rPr lang="en-US" sz="1150" dirty="0">
                <a:solidFill>
                  <a:srgbClr val="44403C"/>
                </a:solidFill>
              </a:rPr>
              <a:t> in </a:t>
            </a:r>
            <a:r>
              <a:rPr lang="en-US" sz="1150" dirty="0" err="1">
                <a:solidFill>
                  <a:srgbClr val="44403C"/>
                </a:solidFill>
              </a:rPr>
              <a:t>blocchi</a:t>
            </a:r>
            <a:r>
              <a:rPr lang="en-US" sz="1150" dirty="0">
                <a:solidFill>
                  <a:srgbClr val="44403C"/>
                </a:solidFill>
              </a:rPr>
              <a:t> </a:t>
            </a:r>
            <a:r>
              <a:rPr lang="en-US" sz="1150" dirty="0" err="1">
                <a:solidFill>
                  <a:srgbClr val="44403C"/>
                </a:solidFill>
              </a:rPr>
              <a:t>diversi</a:t>
            </a:r>
            <a:r>
              <a:rPr lang="en-US" sz="1150" dirty="0">
                <a:solidFill>
                  <a:srgbClr val="44403C"/>
                </a:solidFill>
              </a:rPr>
              <a:t> è più semplice e </a:t>
            </a:r>
            <a:r>
              <a:rPr lang="en-US" sz="1150" dirty="0" err="1">
                <a:solidFill>
                  <a:srgbClr val="44403C"/>
                </a:solidFill>
              </a:rPr>
              <a:t>più</a:t>
            </a:r>
            <a:r>
              <a:rPr lang="en-US" sz="1150" dirty="0">
                <a:solidFill>
                  <a:srgbClr val="44403C"/>
                </a:solidFill>
              </a:rPr>
              <a:t> veloce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51376"/>
            <a:ext cx="8595360" cy="676656"/>
          </a:xfrm>
          <a:prstGeom prst="rect">
            <a:avLst/>
          </a:prstGeom>
          <a:solidFill>
            <a:srgbClr val="FFFBEB"/>
          </a:solidFill>
          <a:ln w="1524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57200" y="4197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✅  Permessi verificati lato server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403C"/>
                </a:solidFill>
              </a:rPr>
              <a:t>Non basta nascondere un pulsante nel frontend: il backend controlla ogni operazione sensibile indipendentemente. Un utente non può 'truccare' il sito.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CEO — RICCARDO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Cosa può fare ognuno — la visione di prodotto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Definire i permessi prima di costruire il sito è la vera architettura di prodotto.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920240"/>
            <a:ext cx="160020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56032" y="192024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920240"/>
            <a:ext cx="141732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901952" y="19202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920240"/>
            <a:ext cx="141732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Galleria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8032" y="1920240"/>
            <a:ext cx="1719072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828032" y="19202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Pannello 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01968" y="1920240"/>
            <a:ext cx="228600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601968" y="1920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Gestione Utenti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16002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10896" y="23591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Ospite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01952" y="2359152"/>
            <a:ext cx="141732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956816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</a:rPr>
              <a:t>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2359152"/>
            <a:ext cx="141732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419856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Solo vista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2359152"/>
            <a:ext cx="1719072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82896" y="235915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01968" y="2359152"/>
            <a:ext cx="22860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656832" y="2359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953512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10896" y="29535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Utente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01952" y="2953512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956816" y="2953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2953512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3419856" y="295351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Prenota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2953512"/>
            <a:ext cx="17190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882896" y="295351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01968" y="295351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656832" y="29535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" y="3547872"/>
            <a:ext cx="16002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310896" y="35478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Collabor.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901952" y="3547872"/>
            <a:ext cx="141732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1956816" y="35478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64992" y="3547872"/>
            <a:ext cx="141732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3419856" y="35478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+ Vende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28032" y="3547872"/>
            <a:ext cx="1719072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882896" y="354787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Sì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01968" y="3547872"/>
            <a:ext cx="22860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6656832" y="35478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Limita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4142232"/>
            <a:ext cx="1600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310896" y="41422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Admin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901952" y="4142232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1956816" y="41422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47857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364992" y="4142232"/>
            <a:ext cx="14173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3419856" y="41422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+ Vende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28032" y="4142232"/>
            <a:ext cx="17190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4882896" y="4142232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Sì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01968" y="414223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6656832" y="4142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03C"/>
                </a:solidFill>
              </a:rPr>
              <a:t>Tutto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4617720"/>
            <a:ext cx="8613648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384048" y="4636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45309"/>
                </a:solidFill>
              </a:rPr>
              <a:t>⚠  Nessuno può eliminare se stesso · Un collaboratore non può colpire altri staff · Solo l'admin promuove e </a:t>
            </a:r>
            <a:r>
              <a:rPr lang="en-US" sz="1050" dirty="0" err="1">
                <a:solidFill>
                  <a:srgbClr val="B45309"/>
                </a:solidFill>
              </a:rPr>
              <a:t>togliere</a:t>
            </a:r>
            <a:r>
              <a:rPr lang="en-US" sz="1050" dirty="0">
                <a:solidFill>
                  <a:srgbClr val="B45309"/>
                </a:solidFill>
              </a:rPr>
              <a:t> I </a:t>
            </a:r>
            <a:r>
              <a:rPr lang="en-US" sz="1050" dirty="0" err="1">
                <a:solidFill>
                  <a:srgbClr val="B45309"/>
                </a:solidFill>
              </a:rPr>
              <a:t>permessi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CEO — RICCARDO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 stato del progetto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8716C"/>
                </a:solidFill>
              </a:rPr>
              <a:t>Cosa è stato consegnato, cosa funziona, cosa potrebbe crescere.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</a:rPr>
              <a:t>✅  </a:t>
            </a:r>
            <a:r>
              <a:rPr lang="en-US" sz="1400" b="1" dirty="0" err="1">
                <a:solidFill>
                  <a:srgbClr val="047857"/>
                </a:solidFill>
              </a:rPr>
              <a:t>Consegnato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19 pagine HTML complete e collaudate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Sistema di login con rinnovo automatico dei cookie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43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Shop souvenir con gestione giacenza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Galleria prenotabile con stati disponibile / prenotato / venduto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447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Pannello admin per gestire foto, prodotti e utenti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03C"/>
                </a:solidFill>
              </a:rPr>
              <a:t>·  Zero dipendenze esterne — funziona offline in rete locale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EF9EE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57200" y="4352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🚀  Possibile evoluzione: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03C"/>
                </a:solidFill>
              </a:rPr>
              <a:t>Paginazione · Ricerca full-text · Email di conferma prenotazione · Integrazione pagamento online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228600" y="201168"/>
            <a:ext cx="1435608" cy="310896"/>
          </a:xfrm>
          <a:prstGeom prst="roundRect">
            <a:avLst>
              <a:gd name="adj" fmla="val 235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28600" y="20116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RIEPILOGO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9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 progetto in sintesi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🖼️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mostra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13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Robert Doisneau · Harry Bertoia · Pordenone · 22 nov 2025 – 26 apr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69164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355848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🛍️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041648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Shop souvenir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313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Cataloghi, stampe, gadget — acquistabili con account registrato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300216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86016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Galleria originali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2313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Opere prenotabili online, ritirate in loco, confermate dallo staff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7857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Autenticazione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730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Cookie sicuri · 4 ruoli · permessi verificati lato server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310896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355848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041648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55848" y="3730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19 pagine HTML · 4 moduli JS · Bootstrap 5.3 dark · zero CDN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3108960"/>
            <a:ext cx="2743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300216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86016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Backend &amp; DB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0216" y="37307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8716C"/>
                </a:solidFill>
              </a:rPr>
              <a:t>API REST · 4 tabelle relazionali · funziona offline in rete locale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B4530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FAF6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fotografia è un certificato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FAF6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 presenza.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514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5309"/>
                </a:solidFill>
              </a:rPr>
              <a:t>— Robert Doisneau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27432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78408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AtelierDoisneau.it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8716C"/>
                </a:solidFill>
              </a:rPr>
              <a:t>Galleria Harry Bertoia · Pordenone · 22 nov 2025 – 26 apr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4343400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👔 Riccardo · CEO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4343400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035808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Alex · 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65776" y="4343400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65776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📣 Furio · Marketing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95744" y="4343400"/>
            <a:ext cx="1828800" cy="347472"/>
          </a:xfrm>
          <a:prstGeom prst="roundRect">
            <a:avLst>
              <a:gd name="adj" fmla="val 23684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095744" y="4343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🎨 Luigi · Design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2423</Words>
  <Application>Microsoft Office PowerPoint</Application>
  <PresentationFormat>Presentazione su schermo (16:9)</PresentationFormat>
  <Paragraphs>413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28" baseType="lpstr">
      <vt:lpstr>Arial</vt:lpstr>
      <vt:lpstr>Consolas</vt:lpstr>
      <vt:lpstr>Palatino Linotype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AtelierDoisneau.it — Presentazione Completa</dc:title>
  <dc:subject>PptxGenJS Presentation</dc:subject>
  <dc:creator>PptxGenJS</dc:creator>
  <cp:lastModifiedBy>LUIGI HUANG</cp:lastModifiedBy>
  <cp:revision>5</cp:revision>
  <dcterms:created xsi:type="dcterms:W3CDTF">2026-04-27T07:42:34Z</dcterms:created>
  <dcterms:modified xsi:type="dcterms:W3CDTF">2026-04-29T10:04:29Z</dcterms:modified>
</cp:coreProperties>
</file>